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summary: problem, approach and outcome. Mention time savings and pilot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parallel execution and modular worker design. Emphasize plug-in data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and point to charts: market size &amp; export 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patents and trials drive go/no-go and how a product concept is framed.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ask: greenlight pilot, provide API access and internal docs, assign data steward.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Accelerating Drug Repurposing with an Agentic AI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Business goal: Move beyond low-margin generics by identifying high-value repurposing opportunities</a:t>
            </a:r>
          </a:p>
          <a:p>
            <a:pPr lvl="1">
              <a:defRPr sz="1300"/>
            </a:pPr>
            <a:r>
              <a:t>Solution: Multi-agent platform integrating market, trials, patents, trade, web and internal data</a:t>
            </a:r>
          </a:p>
          <a:p>
            <a:pPr lvl="1">
              <a:defRPr sz="1300"/>
            </a:pPr>
            <a:r>
              <a:t>Outcome: Reduce early-stage research from months → days; produce auditable PDF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solidFill>
            <a:srgbClr val="C72B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291840"/>
            <a:ext cx="548640" cy="54864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91840"/>
            <a:ext cx="548640" cy="548640"/>
          </a:xfrm>
          <a:prstGeom prst="rect">
            <a:avLst/>
          </a:prstGeom>
          <a:solidFill>
            <a:srgbClr val="C72B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t>Multi-Agent Architecture — Master Agent + Worker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280160"/>
            <a:ext cx="2743200" cy="731520"/>
          </a:xfrm>
          <a:prstGeom prst="rect">
            <a:avLst/>
          </a:prstGeom>
          <a:solidFill>
            <a:srgbClr val="FFF3CD"/>
          </a:solidFill>
          <a:ln w="19050"/>
        </p:spPr>
        <p:txBody>
          <a:bodyPr wrap="none">
            <a:spAutoFit/>
          </a:bodyPr>
          <a:lstStyle/>
          <a:p>
            <a:pPr>
              <a:defRPr sz="1200"/>
            </a:pPr>
            <a:r>
              <a:t>Master Agent</a:t>
            </a:r>
            <a:br/>
            <a:r>
              <a:t>(Orchestrator)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011680" cy="548640"/>
          </a:xfrm>
          <a:prstGeom prst="rect">
            <a:avLst/>
          </a:prstGeom>
          <a:solidFill>
            <a:srgbClr val="E6F5FF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IQVIA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097280"/>
            <a:ext cx="2011680" cy="548640"/>
          </a:xfrm>
          <a:prstGeom prst="rect">
            <a:avLst/>
          </a:prstGeom>
          <a:solidFill>
            <a:srgbClr val="E6F5FF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EXIM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011680" cy="548640"/>
          </a:xfrm>
          <a:prstGeom prst="rect">
            <a:avLst/>
          </a:prstGeom>
          <a:solidFill>
            <a:srgbClr val="E6F5FF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Patent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743200"/>
            <a:ext cx="2011680" cy="548640"/>
          </a:xfrm>
          <a:prstGeom prst="rect">
            <a:avLst/>
          </a:prstGeom>
          <a:solidFill>
            <a:srgbClr val="E6F5FF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Clinical Trials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2011680" cy="548640"/>
          </a:xfrm>
          <a:prstGeom prst="rect">
            <a:avLst/>
          </a:prstGeom>
          <a:solidFill>
            <a:srgbClr val="E6F5FF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Web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840480"/>
            <a:ext cx="2011680" cy="548640"/>
          </a:xfrm>
          <a:prstGeom prst="rect">
            <a:avLst/>
          </a:prstGeom>
          <a:solidFill>
            <a:srgbClr val="E6F5FF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Internal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72000"/>
            <a:ext cx="2011680" cy="548640"/>
          </a:xfrm>
          <a:prstGeom prst="rect">
            <a:avLst/>
          </a:prstGeom>
          <a:solidFill>
            <a:srgbClr val="E6F5FF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Report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Outputs: tables, charts, trial lists, patent expiry timelines, RAG summaries, downloadable PDFs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End-to-End Journey — Example: Metformin Repurposing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1) User prompt: Find repurposing opportunities for metformin</a:t>
            </a:r>
          </a:p>
          <a:p>
            <a:pPr>
              <a:defRPr sz="1200"/>
            </a:pPr>
            <a:r>
              <a:t>2) Master Agent decomposes: market, trials, patents, web, internal</a:t>
            </a:r>
          </a:p>
          <a:p>
            <a:pPr>
              <a:defRPr sz="1200"/>
            </a:pPr>
            <a:r>
              <a:t>3) Worker outputs: market sizing, trial list, patents, literature snippets</a:t>
            </a:r>
          </a:p>
          <a:p>
            <a:pPr>
              <a:defRPr sz="1200"/>
            </a:pPr>
            <a:r>
              <a:t>4) Synthesis: prioritized hypothesis + next steps</a:t>
            </a:r>
          </a:p>
        </p:txBody>
      </p:sp>
      <p:pic>
        <p:nvPicPr>
          <p:cNvPr id="4" name="Picture 3" descr="mark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114800" cy="2400300"/>
          </a:xfrm>
          <a:prstGeom prst="rect">
            <a:avLst/>
          </a:prstGeom>
        </p:spPr>
      </p:pic>
      <p:pic>
        <p:nvPicPr>
          <p:cNvPr id="5" name="Picture 4" descr="trad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26080"/>
            <a:ext cx="41148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Patent &amp; Risk Assessment → Draft Product Story</a:t>
            </a:r>
          </a:p>
        </p:txBody>
      </p:sp>
      <p:pic>
        <p:nvPicPr>
          <p:cNvPr id="3" name="Picture 2" descr="pat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209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914400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Synthesis &amp; Product Story</a:t>
            </a:r>
          </a:p>
          <a:p>
            <a:pPr lvl="1">
              <a:defRPr sz="1200"/>
            </a:pPr>
            <a:r>
              <a:t>- Indication: Metformin sustained-release for diabetic nephropathy</a:t>
            </a:r>
          </a:p>
          <a:p>
            <a:pPr lvl="1">
              <a:defRPr sz="1200"/>
            </a:pPr>
            <a:r>
              <a:t>- Value props: improved adherence, differentiated formulation, cost advantage</a:t>
            </a:r>
          </a:p>
          <a:p>
            <a:pPr lvl="1">
              <a:defRPr sz="1200"/>
            </a:pPr>
            <a:r>
              <a:t>- Risks: IP watch, confirm FTO, regulatory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Deliverables,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Deliverables</a:t>
            </a:r>
          </a:p>
          <a:p>
            <a:pPr lvl="1">
              <a:defRPr sz="1200"/>
            </a:pPr>
            <a:r>
              <a:t>- Executive PDF report (market, trials, patents, trade, internal insights)</a:t>
            </a:r>
          </a:p>
          <a:p>
            <a:pPr lvl="1">
              <a:defRPr sz="1200"/>
            </a:pPr>
            <a:r>
              <a:t>- 5-slide summary deck (this deck)</a:t>
            </a:r>
          </a:p>
          <a:p>
            <a:pPr lvl="1">
              <a:defRPr sz="1200"/>
            </a:pPr>
            <a:r>
              <a:t>- Pilot: validate 3 priority molecules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0"/>
            <a:ext cx="2743200" cy="548640"/>
          </a:xfrm>
          <a:prstGeom prst="rect">
            <a:avLst/>
          </a:prstGeom>
          <a:solidFill>
            <a:srgbClr val="2E86AB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Pilot (4-6 wk)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011680"/>
            <a:ext cx="2743200" cy="548640"/>
          </a:xfrm>
          <a:prstGeom prst="rect">
            <a:avLst/>
          </a:prstGeom>
          <a:solidFill>
            <a:srgbClr val="C72B62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Integrate real APIs (8-12 wk)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926080"/>
            <a:ext cx="2743200" cy="548640"/>
          </a:xfrm>
          <a:prstGeom prst="rect">
            <a:avLst/>
          </a:prstGeom>
          <a:solidFill>
            <a:srgbClr val="C72B62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Scale &amp; 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